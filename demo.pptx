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8"/>
    <p:restoredTop sz="73817"/>
  </p:normalViewPr>
  <p:slideViewPr>
    <p:cSldViewPr snapToGrid="0">
      <p:cViewPr varScale="1">
        <p:scale>
          <a:sx n="116" d="100"/>
          <a:sy n="116" d="100"/>
        </p:scale>
        <p:origin x="10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C6A356-3328-4748-B1B9-6781125FB845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BE5181-08BA-9449-87C1-626315F5F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392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8E856-0A11-AE4C-920B-12F692DBCF9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875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9DC31-9043-4A4B-6C11-C70D5F9D26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46653C-C4CC-F29B-8694-DCFB535C2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F10C5-DD52-FAAD-6B50-A09EB9ACD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17B4-8A13-2C46-8FCD-DC33ACAF3383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34F51-ECEC-293B-1899-A3581C53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DB54B-AC18-8AA3-8BFF-AA06E48C8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301AA-7D5B-864C-A900-38B416CB6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432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D8E23-DB4F-5AA8-7D8E-4CAED520C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48874-AB45-DC4F-F64D-943C84C90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BFB7F-5944-21B2-E092-29B2270A6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17B4-8A13-2C46-8FCD-DC33ACAF3383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77F6A-C770-3C58-8D8D-E6D50AE72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7FCB5-686F-F349-AFF4-E093E0DE0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301AA-7D5B-864C-A900-38B416CB6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41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F3C93-DE15-1FDD-7876-E91EDD76C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D32192-292C-4D3D-33A5-F5CB2A18C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32C9F-9215-5A81-FFF4-CEA6D489D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17B4-8A13-2C46-8FCD-DC33ACAF3383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003FF-89A9-A1A4-FF5C-703662213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332D4-518E-15BA-11EB-42734A286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301AA-7D5B-864C-A900-38B416CB6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708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3306B-D7C5-EA8F-AC2F-27A2551AD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A4CF5-0374-DF54-DADE-A110C48AD3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91AA8-FCE2-AFA2-9B7B-0394EBB18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B1E9E1-302B-D997-12BE-97A88B981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17B4-8A13-2C46-8FCD-DC33ACAF3383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6BEC8A-A4A2-9480-A60D-1D2ECE6E9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C31F5-CD16-A9D0-6E9E-8692165DE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301AA-7D5B-864C-A900-38B416CB6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340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1E461-673C-2744-8185-46AEF933D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470893-9D08-851D-07B0-FD2636A9B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BE42F8-691C-CA90-2B84-78E6CB02BD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C2D31-A456-F31E-BC63-B5850CF1CA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C068B9-7FA6-035F-79AC-0B13F9197E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868440-B516-3916-4CBF-AF7E029C5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17B4-8A13-2C46-8FCD-DC33ACAF3383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EA58BD-90CC-0EDD-04E7-B13F4728D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8E757D-A39A-929D-7C59-ABB13FA1C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301AA-7D5B-864C-A900-38B416CB6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179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59CE4-D9C0-57C1-CFE9-D1388D2AB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04351E-D634-5C59-EAB5-3A361FB1A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17B4-8A13-2C46-8FCD-DC33ACAF3383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A2918-86CC-1BB4-E487-234748B87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722F6-8CB6-8A96-3EE3-461B8BBB8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301AA-7D5B-864C-A900-38B416CB6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555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7BFA49-5AD0-0512-E08C-D397431E6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17B4-8A13-2C46-8FCD-DC33ACAF3383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683DF8-C29F-2328-37E7-CB796BC98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26C3FA-BE39-4E19-A748-2383DD4E7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301AA-7D5B-864C-A900-38B416CB6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798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B7E4A-1109-1FEB-9536-6EBEBB017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44103-A9E4-8FD4-542E-1F49DE6C2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8827AE-20C7-FDE0-3004-892C519F2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86E8C-0AC0-243E-1254-A01FD3C00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17B4-8A13-2C46-8FCD-DC33ACAF3383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25213-1338-17BF-F352-7345166F7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4448F-BEB4-5E1B-3F01-09C6E31C1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301AA-7D5B-864C-A900-38B416CB6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619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F7B8E-6F78-90CA-3FAC-8F109D5F2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6452D9-B71D-6977-8B39-45F3EAF04A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06776D-56D2-43AC-D4B6-57BF2D7FF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2149D-F116-4BDA-8CCD-13BA6D824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17B4-8A13-2C46-8FCD-DC33ACAF3383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16FEFF-7248-ECCE-459D-F41DEF357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E12B27-5E44-6671-EE1D-64B9DBE71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301AA-7D5B-864C-A900-38B416CB6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50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32699-12C3-32D0-D90E-0EBBD78E1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EE3C6-FE6E-7933-3BF2-B22CFB82F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CE0F0-0A0C-EC86-891D-2E10B61C4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17B4-8A13-2C46-8FCD-DC33ACAF3383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47E22-B2FF-342E-5644-FCC2A4B6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E9C01-C848-44CE-6828-D5D8EB3FD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301AA-7D5B-864C-A900-38B416CB6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938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C6A99F-5B75-E6AA-0F66-F48596A39F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B098C-FAD3-7AE5-9BBC-1510F5CDEB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7161B-DF4C-47BB-8470-BFBC018F5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F17B4-8A13-2C46-8FCD-DC33ACAF3383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55C2D-F783-A894-31AB-625DD8E44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F6D40-9E7C-A178-5100-231742AC9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301AA-7D5B-864C-A900-38B416CB6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862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CC3FA8-1376-0828-AEC4-B5C33EF9F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6C247-D8BF-2B9E-7103-23CFC39EA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F7CD9-7B5D-B22E-3E3A-E23E87360A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AF17B4-8A13-2C46-8FCD-DC33ACAF3383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38875-711D-65D3-48BD-46F853D5DB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CF722-54F5-7F40-8FAE-940461530E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D301AA-7D5B-864C-A900-38B416CB6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93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jpe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5" name="Picture 1054">
            <a:extLst>
              <a:ext uri="{FF2B5EF4-FFF2-40B4-BE49-F238E27FC236}">
                <a16:creationId xmlns:a16="http://schemas.microsoft.com/office/drawing/2014/main" id="{88429D09-5DB6-9F72-D48F-EA87F374B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042" y="2778998"/>
            <a:ext cx="537526" cy="369333"/>
          </a:xfrm>
          <a:prstGeom prst="rect">
            <a:avLst/>
          </a:prstGeom>
        </p:spPr>
      </p:pic>
      <p:pic>
        <p:nvPicPr>
          <p:cNvPr id="1033" name="Picture 1032">
            <a:extLst>
              <a:ext uri="{FF2B5EF4-FFF2-40B4-BE49-F238E27FC236}">
                <a16:creationId xmlns:a16="http://schemas.microsoft.com/office/drawing/2014/main" id="{F7A318FF-38EF-CC70-5C79-1F12EB564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590" y="2120087"/>
            <a:ext cx="537526" cy="369333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20BDB96-EE36-AB58-32CF-2F726E4B0E39}"/>
              </a:ext>
            </a:extLst>
          </p:cNvPr>
          <p:cNvSpPr/>
          <p:nvPr/>
        </p:nvSpPr>
        <p:spPr>
          <a:xfrm>
            <a:off x="7101863" y="2058864"/>
            <a:ext cx="2000146" cy="467017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u="sng" dirty="0" err="1">
                <a:solidFill>
                  <a:sysClr val="windowText" lastClr="000000"/>
                </a:solidFill>
                <a:latin typeface="IBM Plex Serif" panose="02060503050406000203" pitchFamily="18" charset="0"/>
              </a:rPr>
              <a:t>news_search</a:t>
            </a:r>
            <a:r>
              <a:rPr lang="en-US" sz="1400" u="sng" dirty="0">
                <a:solidFill>
                  <a:sysClr val="windowText" lastClr="000000"/>
                </a:solidFill>
                <a:latin typeface="IBM Plex Serif" panose="02060503050406000203" pitchFamily="18" charset="0"/>
              </a:rPr>
              <a:t>(query)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D7FAD5-B152-B5D5-48EE-6F7E238DF74F}"/>
              </a:ext>
            </a:extLst>
          </p:cNvPr>
          <p:cNvSpPr txBox="1"/>
          <p:nvPr/>
        </p:nvSpPr>
        <p:spPr>
          <a:xfrm>
            <a:off x="7573038" y="1519303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latin typeface="IBM Plex Serif Medm" panose="02060503050406000203" pitchFamily="18" charset="0"/>
              </a:rPr>
              <a:t>Tools</a:t>
            </a:r>
          </a:p>
        </p:txBody>
      </p:sp>
      <p:pic>
        <p:nvPicPr>
          <p:cNvPr id="13" name="Graphic 12" descr="Robot with solid fill">
            <a:extLst>
              <a:ext uri="{FF2B5EF4-FFF2-40B4-BE49-F238E27FC236}">
                <a16:creationId xmlns:a16="http://schemas.microsoft.com/office/drawing/2014/main" id="{C721ADA6-FE16-8807-7C70-90017DF1F2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3831" y="2516336"/>
            <a:ext cx="1657949" cy="16579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43E4AA4-0525-A725-FC78-2E3CCB3235B8}"/>
              </a:ext>
            </a:extLst>
          </p:cNvPr>
          <p:cNvSpPr txBox="1"/>
          <p:nvPr/>
        </p:nvSpPr>
        <p:spPr>
          <a:xfrm>
            <a:off x="3740791" y="4080147"/>
            <a:ext cx="23567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100">
                <a:latin typeface="IBM Plex Serif" panose="02060503050406000203" pitchFamily="18" charset="0"/>
              </a:defRPr>
            </a:lvl1pPr>
          </a:lstStyle>
          <a:p>
            <a:r>
              <a:rPr lang="en-US" dirty="0"/>
              <a:t>News Agent (mistral-large-2411)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E390CB-45BB-11A2-40F8-4AEE9BDB071E}"/>
              </a:ext>
            </a:extLst>
          </p:cNvPr>
          <p:cNvSpPr txBox="1"/>
          <p:nvPr/>
        </p:nvSpPr>
        <p:spPr>
          <a:xfrm>
            <a:off x="499590" y="395453"/>
            <a:ext cx="67441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IBM Plex Serif" panose="02060503050406000203" pitchFamily="18" charset="0"/>
              </a:rPr>
              <a:t>News Agent with Tool Calling powered by </a:t>
            </a:r>
            <a:r>
              <a:rPr lang="en-US" sz="2000" b="1" dirty="0" err="1">
                <a:latin typeface="IBM Plex Serif" panose="02060503050406000203" pitchFamily="18" charset="0"/>
              </a:rPr>
              <a:t>Mistrial.ai</a:t>
            </a:r>
            <a:endParaRPr lang="en-US" sz="2000" b="1" dirty="0">
              <a:latin typeface="IBM Plex Serif" panose="02060503050406000203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33A41D9-78F3-9699-DCC0-CB442BDD51F5}"/>
              </a:ext>
            </a:extLst>
          </p:cNvPr>
          <p:cNvCxnSpPr>
            <a:cxnSpLocks/>
          </p:cNvCxnSpPr>
          <p:nvPr/>
        </p:nvCxnSpPr>
        <p:spPr>
          <a:xfrm>
            <a:off x="5097565" y="3409720"/>
            <a:ext cx="10828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Graphic 19" descr="Male profile with solid fill">
            <a:extLst>
              <a:ext uri="{FF2B5EF4-FFF2-40B4-BE49-F238E27FC236}">
                <a16:creationId xmlns:a16="http://schemas.microsoft.com/office/drawing/2014/main" id="{464D20E9-A2D6-062B-E72D-B9CE569B01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0022" y="3020959"/>
            <a:ext cx="914400" cy="914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F719A34-D8E6-3FCD-A627-0D15D371F5AA}"/>
              </a:ext>
            </a:extLst>
          </p:cNvPr>
          <p:cNvSpPr txBox="1"/>
          <p:nvPr/>
        </p:nvSpPr>
        <p:spPr>
          <a:xfrm>
            <a:off x="1469903" y="3935359"/>
            <a:ext cx="4956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100">
                <a:latin typeface="IBM Plex Serif" panose="02060503050406000203" pitchFamily="18" charset="0"/>
              </a:defRPr>
            </a:lvl1pPr>
          </a:lstStyle>
          <a:p>
            <a:r>
              <a:rPr lang="en-US" dirty="0"/>
              <a:t>User</a:t>
            </a:r>
          </a:p>
        </p:txBody>
      </p:sp>
      <p:pic>
        <p:nvPicPr>
          <p:cNvPr id="2" name="Content Placeholder 4" descr="School girl with solid fill">
            <a:extLst>
              <a:ext uri="{FF2B5EF4-FFF2-40B4-BE49-F238E27FC236}">
                <a16:creationId xmlns:a16="http://schemas.microsoft.com/office/drawing/2014/main" id="{58220DFB-37C4-1E9E-5D83-0C2AE6F010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02458" y="3040291"/>
            <a:ext cx="914400" cy="914400"/>
          </a:xfr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48AC3B0-5415-FDDA-29B0-8D4FB5B7204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81890" y="4314952"/>
            <a:ext cx="981749" cy="69540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F783746-F5C6-B8D9-CC1E-12A04EF55C58}"/>
              </a:ext>
            </a:extLst>
          </p:cNvPr>
          <p:cNvSpPr txBox="1"/>
          <p:nvPr/>
        </p:nvSpPr>
        <p:spPr>
          <a:xfrm>
            <a:off x="2763863" y="3085491"/>
            <a:ext cx="5854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100">
                <a:latin typeface="IBM Plex Serif" panose="02060503050406000203" pitchFamily="18" charset="0"/>
              </a:defRPr>
            </a:lvl1pPr>
          </a:lstStyle>
          <a:p>
            <a:r>
              <a:rPr lang="en-US" dirty="0"/>
              <a:t>Query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DAB3AFE-EAEF-65B0-EFAA-589D6B790934}"/>
              </a:ext>
            </a:extLst>
          </p:cNvPr>
          <p:cNvCxnSpPr>
            <a:cxnSpLocks/>
          </p:cNvCxnSpPr>
          <p:nvPr/>
        </p:nvCxnSpPr>
        <p:spPr>
          <a:xfrm>
            <a:off x="-5877912" y="470319"/>
            <a:ext cx="501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Brand • Streamlit">
            <a:extLst>
              <a:ext uri="{FF2B5EF4-FFF2-40B4-BE49-F238E27FC236}">
                <a16:creationId xmlns:a16="http://schemas.microsoft.com/office/drawing/2014/main" id="{C5830583-9AA3-50D2-DBAC-6BBF7CD8C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914" y="2066295"/>
            <a:ext cx="1204126" cy="7044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93F7D3E-3A10-F7CF-683B-2C703202000A}"/>
              </a:ext>
            </a:extLst>
          </p:cNvPr>
          <p:cNvSpPr txBox="1"/>
          <p:nvPr/>
        </p:nvSpPr>
        <p:spPr>
          <a:xfrm>
            <a:off x="5135068" y="3145380"/>
            <a:ext cx="10550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100">
                <a:latin typeface="IBM Plex Serif" panose="02060503050406000203" pitchFamily="18" charset="0"/>
              </a:defRPr>
            </a:lvl1pPr>
          </a:lstStyle>
          <a:p>
            <a:r>
              <a:rPr lang="en-US" dirty="0"/>
              <a:t>Identify tools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679C2C-8D5E-7957-F1A5-C093CB4FAEB8}"/>
              </a:ext>
            </a:extLst>
          </p:cNvPr>
          <p:cNvSpPr txBox="1"/>
          <p:nvPr/>
        </p:nvSpPr>
        <p:spPr>
          <a:xfrm>
            <a:off x="7080146" y="5059150"/>
            <a:ext cx="15852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sfMono"/>
              </a:rPr>
              <a:t>mistral-embed</a:t>
            </a:r>
            <a:endParaRPr lang="en-US" dirty="0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55DDCBD-21AA-D52B-478D-0E7B2AEEA513}"/>
              </a:ext>
            </a:extLst>
          </p:cNvPr>
          <p:cNvSpPr/>
          <p:nvPr/>
        </p:nvSpPr>
        <p:spPr>
          <a:xfrm>
            <a:off x="7095498" y="2713821"/>
            <a:ext cx="2205742" cy="466344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u="sng" dirty="0" err="1">
                <a:solidFill>
                  <a:sysClr val="windowText" lastClr="000000"/>
                </a:solidFill>
                <a:latin typeface="IBM Plex Serif" panose="02060503050406000203" pitchFamily="18" charset="0"/>
              </a:rPr>
              <a:t>deep_analysis</a:t>
            </a:r>
            <a:r>
              <a:rPr lang="en-US" sz="1400" u="sng" dirty="0">
                <a:solidFill>
                  <a:sysClr val="windowText" lastClr="000000"/>
                </a:solidFill>
                <a:latin typeface="IBM Plex Serif" panose="02060503050406000203" pitchFamily="18" charset="0"/>
              </a:rPr>
              <a:t>(query)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70F3BA0-CB62-15CA-623B-C643337A4675}"/>
              </a:ext>
            </a:extLst>
          </p:cNvPr>
          <p:cNvCxnSpPr>
            <a:cxnSpLocks/>
          </p:cNvCxnSpPr>
          <p:nvPr/>
        </p:nvCxnSpPr>
        <p:spPr>
          <a:xfrm>
            <a:off x="9461771" y="2276815"/>
            <a:ext cx="12584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2" name="Picture 8" descr="Internet - Free signs icons">
            <a:extLst>
              <a:ext uri="{FF2B5EF4-FFF2-40B4-BE49-F238E27FC236}">
                <a16:creationId xmlns:a16="http://schemas.microsoft.com/office/drawing/2014/main" id="{9F902573-F4A6-F97B-D5B8-C98BA466D2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7221" y="1989982"/>
            <a:ext cx="467018" cy="46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10B8680-EB2C-2429-238A-C947786F56CC}"/>
              </a:ext>
            </a:extLst>
          </p:cNvPr>
          <p:cNvSpPr txBox="1"/>
          <p:nvPr/>
        </p:nvSpPr>
        <p:spPr>
          <a:xfrm>
            <a:off x="9541397" y="1823400"/>
            <a:ext cx="10538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100">
                <a:solidFill>
                  <a:schemeClr val="tx1"/>
                </a:solidFill>
                <a:latin typeface="IBM Plex Serif" panose="02060503050406000203" pitchFamily="18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 err="1"/>
              <a:t>Duckduckgo</a:t>
            </a:r>
            <a:r>
              <a:rPr lang="en-US" dirty="0"/>
              <a:t> </a:t>
            </a:r>
          </a:p>
          <a:p>
            <a:r>
              <a:rPr lang="en-US" dirty="0"/>
              <a:t>news search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28DDA8A-69D8-B04C-6E28-64737AFD42F6}"/>
              </a:ext>
            </a:extLst>
          </p:cNvPr>
          <p:cNvCxnSpPr>
            <a:cxnSpLocks/>
          </p:cNvCxnSpPr>
          <p:nvPr/>
        </p:nvCxnSpPr>
        <p:spPr>
          <a:xfrm>
            <a:off x="7872765" y="3898020"/>
            <a:ext cx="0" cy="4665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Graphic 43">
            <a:extLst>
              <a:ext uri="{FF2B5EF4-FFF2-40B4-BE49-F238E27FC236}">
                <a16:creationId xmlns:a16="http://schemas.microsoft.com/office/drawing/2014/main" id="{E9E37A01-A743-A145-4F9A-2327A9128DA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21930" y="2509605"/>
            <a:ext cx="981749" cy="695406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AA74EE90-CAC4-15AA-C32D-6A4D674528A3}"/>
              </a:ext>
            </a:extLst>
          </p:cNvPr>
          <p:cNvSpPr txBox="1"/>
          <p:nvPr/>
        </p:nvSpPr>
        <p:spPr>
          <a:xfrm>
            <a:off x="7923293" y="3970328"/>
            <a:ext cx="742086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>
                <a:latin typeface="IBM Plex Serif" panose="02060503050406000203" pitchFamily="18" charset="0"/>
              </a:rPr>
              <a:t>Query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C14AD25-FCF9-64D6-E7C3-040D2595DC51}"/>
              </a:ext>
            </a:extLst>
          </p:cNvPr>
          <p:cNvCxnSpPr>
            <a:cxnSpLocks/>
          </p:cNvCxnSpPr>
          <p:nvPr/>
        </p:nvCxnSpPr>
        <p:spPr>
          <a:xfrm>
            <a:off x="7877648" y="5428482"/>
            <a:ext cx="0" cy="4665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10" descr="GitHub - chroma-core/chroma: Open-source search and ...">
            <a:extLst>
              <a:ext uri="{FF2B5EF4-FFF2-40B4-BE49-F238E27FC236}">
                <a16:creationId xmlns:a16="http://schemas.microsoft.com/office/drawing/2014/main" id="{DA2599AB-891D-CB58-E075-BAF180CCE1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59" t="35820" r="33214"/>
          <a:stretch>
            <a:fillRect/>
          </a:stretch>
        </p:blipFill>
        <p:spPr bwMode="auto">
          <a:xfrm>
            <a:off x="7381890" y="5895006"/>
            <a:ext cx="1458820" cy="458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162D72BA-DBDC-D5F0-6656-BB1FAEAD18B6}"/>
              </a:ext>
            </a:extLst>
          </p:cNvPr>
          <p:cNvSpPr txBox="1"/>
          <p:nvPr/>
        </p:nvSpPr>
        <p:spPr>
          <a:xfrm>
            <a:off x="5304519" y="5897956"/>
            <a:ext cx="11384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100">
                <a:latin typeface="IBM Plex Serif" panose="02060503050406000203" pitchFamily="18" charset="0"/>
              </a:defRPr>
            </a:lvl1pPr>
          </a:lstStyle>
          <a:p>
            <a:r>
              <a:rPr lang="en-US" dirty="0"/>
              <a:t>Relevant news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B3A36E7-7558-D33F-A132-E6C5EB739F82}"/>
              </a:ext>
            </a:extLst>
          </p:cNvPr>
          <p:cNvCxnSpPr>
            <a:cxnSpLocks/>
          </p:cNvCxnSpPr>
          <p:nvPr/>
        </p:nvCxnSpPr>
        <p:spPr>
          <a:xfrm flipH="1">
            <a:off x="4507016" y="6145023"/>
            <a:ext cx="28748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A12E0EB-FEA8-05A1-3B19-E62568059D3B}"/>
              </a:ext>
            </a:extLst>
          </p:cNvPr>
          <p:cNvCxnSpPr>
            <a:cxnSpLocks/>
          </p:cNvCxnSpPr>
          <p:nvPr/>
        </p:nvCxnSpPr>
        <p:spPr>
          <a:xfrm flipV="1">
            <a:off x="4507016" y="4434615"/>
            <a:ext cx="0" cy="16321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32E3D62E-DE70-EA45-98FC-7441EBBD0990}"/>
              </a:ext>
            </a:extLst>
          </p:cNvPr>
          <p:cNvSpPr txBox="1"/>
          <p:nvPr/>
        </p:nvSpPr>
        <p:spPr>
          <a:xfrm>
            <a:off x="7919965" y="5506356"/>
            <a:ext cx="1458819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dk1"/>
                </a:solidFill>
                <a:latin typeface="IBM Plex Serif" panose="02060503050406000203" pitchFamily="18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Query embedding</a:t>
            </a: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92B26CAB-2514-C980-E0A7-48EF15D73659}"/>
              </a:ext>
            </a:extLst>
          </p:cNvPr>
          <p:cNvSpPr txBox="1"/>
          <p:nvPr/>
        </p:nvSpPr>
        <p:spPr>
          <a:xfrm>
            <a:off x="2700121" y="3459200"/>
            <a:ext cx="10406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100">
                <a:solidFill>
                  <a:schemeClr val="dk1"/>
                </a:solidFill>
              </a:defRPr>
            </a:lvl1pPr>
          </a:lstStyle>
          <a:p>
            <a:r>
              <a:rPr lang="en-US" dirty="0">
                <a:latin typeface="IBM Plex Serif" panose="02060503050406000203" pitchFamily="18" charset="0"/>
              </a:rPr>
              <a:t>Final answer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2A0B7F7A-889D-593F-3573-BD5672AE04B7}"/>
              </a:ext>
            </a:extLst>
          </p:cNvPr>
          <p:cNvSpPr txBox="1"/>
          <p:nvPr/>
        </p:nvSpPr>
        <p:spPr>
          <a:xfrm>
            <a:off x="9582901" y="3008979"/>
            <a:ext cx="9669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100">
                <a:latin typeface="IBM Plex Serif" panose="02060503050406000203" pitchFamily="18" charset="0"/>
              </a:defRPr>
            </a:lvl1pPr>
          </a:lstStyle>
          <a:p>
            <a:r>
              <a:rPr lang="en-US" dirty="0"/>
              <a:t>Full articles</a:t>
            </a:r>
          </a:p>
        </p:txBody>
      </p:sp>
      <p:cxnSp>
        <p:nvCxnSpPr>
          <p:cNvPr id="1040" name="Straight Arrow Connector 1039">
            <a:extLst>
              <a:ext uri="{FF2B5EF4-FFF2-40B4-BE49-F238E27FC236}">
                <a16:creationId xmlns:a16="http://schemas.microsoft.com/office/drawing/2014/main" id="{F2149585-ABA1-E4A0-851F-FC668320B7D6}"/>
              </a:ext>
            </a:extLst>
          </p:cNvPr>
          <p:cNvCxnSpPr>
            <a:cxnSpLocks/>
          </p:cNvCxnSpPr>
          <p:nvPr/>
        </p:nvCxnSpPr>
        <p:spPr>
          <a:xfrm flipH="1">
            <a:off x="9438962" y="2413351"/>
            <a:ext cx="12584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6" name="TextBox 1045">
            <a:extLst>
              <a:ext uri="{FF2B5EF4-FFF2-40B4-BE49-F238E27FC236}">
                <a16:creationId xmlns:a16="http://schemas.microsoft.com/office/drawing/2014/main" id="{5828A683-487D-7C27-8C90-A3E93078199E}"/>
              </a:ext>
            </a:extLst>
          </p:cNvPr>
          <p:cNvSpPr txBox="1"/>
          <p:nvPr/>
        </p:nvSpPr>
        <p:spPr>
          <a:xfrm>
            <a:off x="9513269" y="2434624"/>
            <a:ext cx="12069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100">
                <a:solidFill>
                  <a:schemeClr val="tx1"/>
                </a:solidFill>
                <a:latin typeface="IBM Plex Serif" panose="02060503050406000203" pitchFamily="18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News snippets </a:t>
            </a:r>
          </a:p>
        </p:txBody>
      </p:sp>
      <p:pic>
        <p:nvPicPr>
          <p:cNvPr id="1049" name="Picture 14" descr="News Logo PNG Transparent Images Free Download | Vector Files | Pngtree">
            <a:extLst>
              <a:ext uri="{FF2B5EF4-FFF2-40B4-BE49-F238E27FC236}">
                <a16:creationId xmlns:a16="http://schemas.microsoft.com/office/drawing/2014/main" id="{7D97C8CC-742F-0DB0-54F7-C2579C5C6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7624" y="5661744"/>
            <a:ext cx="754376" cy="75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Graphic 1049">
            <a:extLst>
              <a:ext uri="{FF2B5EF4-FFF2-40B4-BE49-F238E27FC236}">
                <a16:creationId xmlns:a16="http://schemas.microsoft.com/office/drawing/2014/main" id="{5D166415-1420-4057-0A48-649C895AED1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36468" y="5646207"/>
            <a:ext cx="521410" cy="369332"/>
          </a:xfrm>
          <a:prstGeom prst="rect">
            <a:avLst/>
          </a:prstGeom>
        </p:spPr>
      </p:pic>
      <p:cxnSp>
        <p:nvCxnSpPr>
          <p:cNvPr id="1051" name="Straight Arrow Connector 1050">
            <a:extLst>
              <a:ext uri="{FF2B5EF4-FFF2-40B4-BE49-F238E27FC236}">
                <a16:creationId xmlns:a16="http://schemas.microsoft.com/office/drawing/2014/main" id="{E3163340-D896-4FA0-8DCF-FE9BB6271BA5}"/>
              </a:ext>
            </a:extLst>
          </p:cNvPr>
          <p:cNvCxnSpPr>
            <a:cxnSpLocks/>
          </p:cNvCxnSpPr>
          <p:nvPr/>
        </p:nvCxnSpPr>
        <p:spPr>
          <a:xfrm flipH="1">
            <a:off x="8840710" y="6149087"/>
            <a:ext cx="26224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2" name="TextBox 1051">
            <a:extLst>
              <a:ext uri="{FF2B5EF4-FFF2-40B4-BE49-F238E27FC236}">
                <a16:creationId xmlns:a16="http://schemas.microsoft.com/office/drawing/2014/main" id="{731A3A83-E171-29A5-3D89-BE6B71CB5166}"/>
              </a:ext>
            </a:extLst>
          </p:cNvPr>
          <p:cNvSpPr txBox="1"/>
          <p:nvPr/>
        </p:nvSpPr>
        <p:spPr>
          <a:xfrm>
            <a:off x="9204765" y="6231454"/>
            <a:ext cx="21482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100">
                <a:latin typeface="IBM Plex Serif" panose="02060503050406000203" pitchFamily="18" charset="0"/>
              </a:defRPr>
            </a:lvl1pPr>
          </a:lstStyle>
          <a:p>
            <a:r>
              <a:rPr lang="en-US" dirty="0"/>
              <a:t>Data preprocessing pipeline</a:t>
            </a:r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F529BF7A-6566-B906-B012-DDBF6000F8DB}"/>
              </a:ext>
            </a:extLst>
          </p:cNvPr>
          <p:cNvSpPr txBox="1"/>
          <p:nvPr/>
        </p:nvSpPr>
        <p:spPr>
          <a:xfrm>
            <a:off x="9844305" y="5697389"/>
            <a:ext cx="1901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sfMono"/>
              </a:rPr>
              <a:t>mistral-embed</a:t>
            </a:r>
            <a:endParaRPr lang="en-US" b="1" dirty="0"/>
          </a:p>
        </p:txBody>
      </p:sp>
      <p:pic>
        <p:nvPicPr>
          <p:cNvPr id="1056" name="Picture 1055">
            <a:extLst>
              <a:ext uri="{FF2B5EF4-FFF2-40B4-BE49-F238E27FC236}">
                <a16:creationId xmlns:a16="http://schemas.microsoft.com/office/drawing/2014/main" id="{76A80861-C47A-CC76-1028-2EFF5CD04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902" y="3452844"/>
            <a:ext cx="537526" cy="369333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D894C1F-3812-7700-3D77-F670677760A9}"/>
              </a:ext>
            </a:extLst>
          </p:cNvPr>
          <p:cNvSpPr/>
          <p:nvPr/>
        </p:nvSpPr>
        <p:spPr>
          <a:xfrm>
            <a:off x="7101863" y="3418135"/>
            <a:ext cx="2637397" cy="467017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u="sng" dirty="0" err="1">
                <a:solidFill>
                  <a:sysClr val="windowText" lastClr="000000"/>
                </a:solidFill>
                <a:latin typeface="IBM Plex Serif" panose="02060503050406000203" pitchFamily="18" charset="0"/>
              </a:rPr>
              <a:t>local_news_search</a:t>
            </a:r>
            <a:r>
              <a:rPr lang="en-US" sz="1400" u="sng" dirty="0">
                <a:solidFill>
                  <a:sysClr val="windowText" lastClr="000000"/>
                </a:solidFill>
                <a:latin typeface="IBM Plex Serif" panose="02060503050406000203" pitchFamily="18" charset="0"/>
              </a:rPr>
              <a:t>(query)</a:t>
            </a:r>
          </a:p>
        </p:txBody>
      </p:sp>
      <p:cxnSp>
        <p:nvCxnSpPr>
          <p:cNvPr id="1062" name="Straight Arrow Connector 1061">
            <a:extLst>
              <a:ext uri="{FF2B5EF4-FFF2-40B4-BE49-F238E27FC236}">
                <a16:creationId xmlns:a16="http://schemas.microsoft.com/office/drawing/2014/main" id="{47BAF314-985E-40E6-7469-61CE830E6587}"/>
              </a:ext>
            </a:extLst>
          </p:cNvPr>
          <p:cNvCxnSpPr>
            <a:cxnSpLocks/>
          </p:cNvCxnSpPr>
          <p:nvPr/>
        </p:nvCxnSpPr>
        <p:spPr>
          <a:xfrm>
            <a:off x="9438962" y="2872672"/>
            <a:ext cx="12584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3" name="Straight Arrow Connector 1062">
            <a:extLst>
              <a:ext uri="{FF2B5EF4-FFF2-40B4-BE49-F238E27FC236}">
                <a16:creationId xmlns:a16="http://schemas.microsoft.com/office/drawing/2014/main" id="{33CCD07A-FB3E-3E12-B307-561BF009B8E9}"/>
              </a:ext>
            </a:extLst>
          </p:cNvPr>
          <p:cNvCxnSpPr>
            <a:cxnSpLocks/>
          </p:cNvCxnSpPr>
          <p:nvPr/>
        </p:nvCxnSpPr>
        <p:spPr>
          <a:xfrm flipH="1">
            <a:off x="9438962" y="2986450"/>
            <a:ext cx="12584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64" name="Picture 8" descr="Internet - Free signs icons">
            <a:extLst>
              <a:ext uri="{FF2B5EF4-FFF2-40B4-BE49-F238E27FC236}">
                <a16:creationId xmlns:a16="http://schemas.microsoft.com/office/drawing/2014/main" id="{0B6495E7-4A5D-D67D-A3C0-795A8D05B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2980" y="2724432"/>
            <a:ext cx="467018" cy="46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65" name="Straight Arrow Connector 1064">
            <a:extLst>
              <a:ext uri="{FF2B5EF4-FFF2-40B4-BE49-F238E27FC236}">
                <a16:creationId xmlns:a16="http://schemas.microsoft.com/office/drawing/2014/main" id="{518B8BF3-6509-8FDF-2F69-FC402DE056D2}"/>
              </a:ext>
            </a:extLst>
          </p:cNvPr>
          <p:cNvCxnSpPr>
            <a:cxnSpLocks/>
          </p:cNvCxnSpPr>
          <p:nvPr/>
        </p:nvCxnSpPr>
        <p:spPr>
          <a:xfrm>
            <a:off x="2516858" y="3352273"/>
            <a:ext cx="12584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6" name="Straight Arrow Connector 1065">
            <a:extLst>
              <a:ext uri="{FF2B5EF4-FFF2-40B4-BE49-F238E27FC236}">
                <a16:creationId xmlns:a16="http://schemas.microsoft.com/office/drawing/2014/main" id="{F6A006CF-CC77-0138-E68F-579D23B7F844}"/>
              </a:ext>
            </a:extLst>
          </p:cNvPr>
          <p:cNvCxnSpPr>
            <a:cxnSpLocks/>
          </p:cNvCxnSpPr>
          <p:nvPr/>
        </p:nvCxnSpPr>
        <p:spPr>
          <a:xfrm flipH="1">
            <a:off x="2516858" y="3466051"/>
            <a:ext cx="12584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6689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4272</TotalTime>
  <Words>60</Words>
  <Application>Microsoft Macintosh PowerPoint</Application>
  <PresentationFormat>Widescreen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sfMono</vt:lpstr>
      <vt:lpstr>Aptos</vt:lpstr>
      <vt:lpstr>Aptos Display</vt:lpstr>
      <vt:lpstr>Arial</vt:lpstr>
      <vt:lpstr>IBM Plex Serif</vt:lpstr>
      <vt:lpstr>IBM Plex Serif Medm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Catherine Cao</dc:creator>
  <cp:lastModifiedBy>Catherine Cao</cp:lastModifiedBy>
  <cp:revision>2</cp:revision>
  <dcterms:created xsi:type="dcterms:W3CDTF">2025-10-31T16:22:01Z</dcterms:created>
  <dcterms:modified xsi:type="dcterms:W3CDTF">2025-11-03T15:34:29Z</dcterms:modified>
</cp:coreProperties>
</file>